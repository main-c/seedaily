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60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BAMBOO IMMO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CDCDC"/>
                </a:solidFill>
              </a:defRPr>
            </a:pPr>
            <a:r>
              <a:t>Document confidentiel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CDCDC"/>
                </a:solidFill>
              </a:defRPr>
            </a:pPr>
            <a:r>
              <a:t>Soumis à l'attention du service comptable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Période: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Par 2BN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2/16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1- Objectif du rapport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2- Événements significatifs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3- Situation financière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4- Activité de la période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5- Soldes significatifs de gestion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6- Situation mensuelle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7- Décisions et recommandations</a:t>
            </a:r>
          </a:p>
          <a:p>
            <a:pPr>
              <a:spcAft>
                <a:spcPts val="1400"/>
              </a:spcAft>
              <a:defRPr sz="2000">
                <a:latin typeface="Calibri"/>
              </a:defRPr>
            </a:pPr>
            <a:r>
              <a:t>8- Annexes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1- Objectif du rapport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3/16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Le présent rapport a pour but :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D'apprécier la situation financière de BAMBOO IMMO ;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De déterminer la profitabilité de BAMBOO IMMO sur cette période ;</a:t>
            </a:r>
          </a:p>
          <a:p>
            <a:pPr>
              <a:spcAft>
                <a:spcPts val="1200"/>
              </a:spcAft>
              <a:defRPr sz="1800">
                <a:latin typeface="Calibri"/>
              </a:defRPr>
            </a:pPr>
            <a:r>
              <a:t>• Servir d'outil d'aide à la décision au Senior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2- Événements significatifs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4/16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Aucun événement significatif à signaler pour cette période.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 Situation financière -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5/16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097280"/>
          <a:ext cx="8961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  <a:gridCol w="1493520"/>
                <a:gridCol w="1493520"/>
                <a:gridCol w="1493520"/>
              </a:tblGrid>
              <a:tr h="176784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ACTIF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PASSIF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INCORPORELLES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99,960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CAPITAL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AMORTISSEMENT DES IMMOBILISATIONS INCORPORELLES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RAN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12,124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CORPORELLES VALEURS BRUTES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16,950,911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RESULTAT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1,101,589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AMORTISSEMENT DES IMMOBILISATIONS CORPORELLES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-2,167,638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IMMOBILISATIONS FINANCIERES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STOCKS ET CRÉANCES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STOCKS ET CRÉANCES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FINANCIERES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DEPRECIATION DES STOCKS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600,000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AVANCE VERSE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SOCIALES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FOURNISSEURS DEBITEURS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119,900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DETTES FISCALES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550,956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CREANCES CLIENTS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AUTRES DETTES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16,339,778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AUTRES CREANCES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CREDITEURS DIVERS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DEBITEURS DIVERS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FOURNISSEUR D'INVESTISSEMENT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TRÉSORERIE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TRÉSORERIE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BANQUES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4,035,636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DECOUVERTS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84,322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CHEQUE POSTAUX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MONNAIE ELECTRONIQUE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CAISSE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VIREMENT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TOTAL ACTIF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19,688,769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 b="1">
                          <a:latin typeface="Calibri"/>
                        </a:defRPr>
                      </a:pPr>
                      <a:r>
                        <a:t>TOTAL PASSIF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900">
                          <a:latin typeface="Calibri"/>
                        </a:defRPr>
                      </a:pPr>
                      <a:r>
                        <a:t>19,688,769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Bilan synthétique préparé pour présentation PowerP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Bilan équilibré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678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3- Situation financière -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6/16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du bilan à compléter.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4- Activité BAMBOO IMMO -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7/16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872" y="1097280"/>
          <a:ext cx="8915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124097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CHARGES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MONTANTS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MONTANTS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Achats de marchandises, de matières &amp; fournitures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Ventes de marchandises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Variation de stock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Ventes de produits fabrique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achats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94,872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Travaux, service vendus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421,500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accessoirs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Services exterieurs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2,590,951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Subvention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Impots &amp; taxes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170,000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immobilisé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du 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Production stocké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Autres produits (Accessoires)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Dotations aux amortissements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2,167,638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Transfert de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Participations des travailleurs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Reprise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Reprise de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Subventions d'equilibre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Frais financiers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Valeur comptables des cessions d'immobilisations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des cessions d'immobilisations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hors activité ordinaires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 hors activité ordinaires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Dotations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Charges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5,028,061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Produits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Resultat - Net Profit (+)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1,101,589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Resultat - Net Loss (-)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 b="1">
                          <a:latin typeface="Calibri"/>
                        </a:defRPr>
                      </a:pPr>
                      <a:r>
                        <a:t>TOTAL CHARGES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 b="1">
                          <a:latin typeface="Calibri"/>
                        </a:defRPr>
                      </a:pPr>
                      <a:r>
                        <a:t>TOTAL PRODUITS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📄 Généré par 2BN CONSULTING le 08/12/2025 à 14:45: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4103"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4- Activité BAMBOO IMMO -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8/16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du compte de résultat à compléter.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5- Soldes intermédiaires de 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9/16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" y="1005840"/>
          <a:ext cx="8869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  <a:gridCol w="1478280"/>
                <a:gridCol w="1478280"/>
                <a:gridCol w="1478280"/>
              </a:tblGrid>
              <a:tr h="122612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Soldes intermédiaires de gestion (SIG)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#NAME?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LIBELLES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EXERCICE AU 30/09/2025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EXERCICE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Ventes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Achats de marchandises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stocks de marchandises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MARGE COMMERCIALE  (somme TA à RB)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Ventes de produits fabriqués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Travaux, services vendus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Commissions &amp; courtages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5,708,150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CHIFFRE D'AFFAIRES (A+B+C+D)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6,129,650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Production stockée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Subventions d'exploitation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produits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Achats de matieres premières et fournitures liées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 de matières premieres &amp; fournit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achats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Variation de stocks d'autres approvisionements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-/+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Services exterieurs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-2,590,951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Impots et taxes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RJ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VALEUR AJOUTÉE (XB+RA+RB) +(somme TE à 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3,538,699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Charges du personnel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EXCÉDENT BRUT D'EXPLOITATION (XC+RK)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3,368,699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TJ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Reprises d'amortissments, de provisions et dépréci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Dotations aux amortissements, aux provisions et 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-2,167,638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D'EXPLOITATION (XD+TJ+RL)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1,201,061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Revenus financiers et assimilés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Reprises de provisions et dépréciations financiere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Transferts de charges financieres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Frais finaciers et charges Assimilés 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Dotations aux provisions et aux dépréciations fina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XF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FINANCIER ( somme TK à RN)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RESULTAT DES ACTIVITES ORDINAIRES (XE+XF)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1,201,061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Produits des cessions d'immobilisations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produits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Valeurs comptables des cessions d'immobilisations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Autres charges HAO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RESULTAT HORS  ACTIVITES ORDINAIRES (somme TN à RP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Participation des travailleurs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612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Impots sur le résultat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22644"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  <a:r>
                        <a:t>RÉSULTAT NET DE L'EXERCICE (XG+XH+RQ+RS)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7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1,101,589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7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5- Soldes intermédiaires de 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10/16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Analyse des SIG à compléter.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6- Situation mensuelle BAMBOO IMMO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11/16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" y="1005840"/>
          <a:ext cx="9052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50"/>
                <a:gridCol w="696360"/>
              </a:tblGrid>
              <a:tr h="81741"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Rappel année N-1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BUDGET PREVI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Janvier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Février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Avril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Juin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Juillet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Août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Septembre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Appoitements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transport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logement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Indeminité de responsabilité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Indeminité de représentation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Indeminité de vehicule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Indemnité de blanchissage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fonction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panier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vestimenatire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Primes d'anciennete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Prime d'assiduité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Congés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Cotisations patronales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Appoint du 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Pharmacie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Assurance maladie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charges de personnel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Matieres consommable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IMPRESSION CARNET 50 FEUILLE+SOUCHES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-47,200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Fournitures de bureau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Eau/electricité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Carburant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Transports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Télécommunication(internet&amp;credit appel)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Entretien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Restauration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Location materiel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Loyer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Assurace risque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Publicité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INTERCO/PATENTE DU 24/02/2025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Impots &amp; Taxes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-170,000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FACTURE 2BNC NøFA2BNC052 DE JANVIER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Intermediaire &amp; conseils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-220,994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FRAIS BANCAIRE D'OCTOBRE A DECEMBRE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-34,631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Frais bancaires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-57,986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-24,521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-34,631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-223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-217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Redevances logiciels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INTERCO/RECEPTION 1ER MAI 2025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-41,345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Reception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-41,345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Interets emprunt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AMORTISSEMENT DU MATERIEL DE TRANSPORT/DE MARS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-1,445,091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-240,849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Amortissement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-1,445,091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-240,849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Frais de 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Pénalités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INTERCO/IMPRESSION T SHIRT 1ER MAI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Autres charges divers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 b="1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-4,600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Autres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charges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FACTURATION NOV 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  COM/LOYER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481,850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476,250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833,700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594,200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555,000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622,200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604,350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524,850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492,950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 b="1">
                          <a:latin typeface="Calibri"/>
                        </a:defRPr>
                      </a:pPr>
                      <a:r>
                        <a:t>Total Commissions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481,850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476,250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833,700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594,200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555,000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622,200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604,350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524,850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492,950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Autres ventes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741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  <a:r>
                        <a:t>Autres produits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 algn="r">
                        <a:defRPr sz="6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1795"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5400" bIns="25400" lIns="50800" rIns="50800" wrap="none"/>
                    <a:lstStyle/>
                    <a:p>
                      <a:pPr>
                        <a:defRPr sz="6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7- Décisions et Recommandations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12/16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371600"/>
            <a:ext cx="7315200" cy="4572000"/>
          </a:xfrm>
          <a:prstGeom prst="roundRect">
            <a:avLst/>
          </a:prstGeom>
          <a:solidFill>
            <a:srgbClr val="F0F8FF"/>
          </a:solidFill>
          <a:ln w="50800"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365760" cy="365760"/>
          </a:xfrm>
          <a:prstGeom prst="ellipse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/>
            </a:pPr>
            <a: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  <a:latin typeface="Calibri"/>
              </a:defRPr>
            </a:pPr>
            <a:r>
              <a:t>Synthèse et recommandations à compléter.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1 : Décaissements à justifier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13/16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2024" y="1371600"/>
          <a:ext cx="8805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12"/>
                <a:gridCol w="1467612"/>
                <a:gridCol w="1467612"/>
                <a:gridCol w="1467612"/>
                <a:gridCol w="1467612"/>
                <a:gridCol w="1467612"/>
              </a:tblGrid>
              <a:tr h="13716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ESCOMPTE CHQORA 5338664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2,113,500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1,963,500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47,120,000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REMISE CHQ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2 : Dettes Fournisseurs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14/16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1371600"/>
          <a:ext cx="881481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136"/>
                <a:gridCol w="1469136"/>
                <a:gridCol w="1469136"/>
                <a:gridCol w="1469136"/>
                <a:gridCol w="1469136"/>
                <a:gridCol w="1469136"/>
              </a:tblGrid>
              <a:tr h="22860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2286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40,110,000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FACTURE 2BNC NøFA2BNC052 DE JA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1,685,904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2,285,904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3 : Autres dettes, Préfinancement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15/16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371600"/>
          <a:ext cx="7818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  <a:gridCol w="1303020"/>
                <a:gridCol w="1303020"/>
              </a:tblGrid>
              <a:tr h="15240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524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44,110,000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IMPOTS SUR LES SOCIETES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5240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44,781,000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TPS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272,922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323,878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gradFill rotWithShape="1">
            <a:gsLst>
              <a:gs pos="0">
                <a:srgbClr val="366092"/>
              </a:gs>
              <a:gs pos="100000">
                <a:srgbClr val="4678B4"/>
              </a:gs>
            </a:gsLst>
            <a:lin scaled="0" ang="16200000"/>
          </a:gra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tIns="137160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Annexe 4 : Créditeurs divers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/>
          <a:lstStyle/>
          <a:p>
            <a:pPr algn="ctr">
              <a:defRPr sz="1000">
                <a:solidFill>
                  <a:srgbClr val="646464"/>
                </a:solidFill>
                <a:latin typeface="Calibri"/>
              </a:defRPr>
            </a:pPr>
            <a:r>
              <a:t>December 2025  |  BAMBOO IMMO                                                                                Page 16/16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8229600" cy="0"/>
          </a:xfrm>
          <a:prstGeom prst="line">
            <a:avLst/>
          </a:prstGeom>
          <a:ln w="25400">
            <a:solidFill>
              <a:srgbClr val="3660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3736" y="1371600"/>
          <a:ext cx="8805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12"/>
                <a:gridCol w="1467612"/>
                <a:gridCol w="1467612"/>
                <a:gridCol w="1467612"/>
                <a:gridCol w="1467612"/>
                <a:gridCol w="1467612"/>
              </a:tblGrid>
              <a:tr h="1371600"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N° Cpte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Libellé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Débit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Crédit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Déb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 tIns="12700" bIns="12700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S. Créd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47,110,000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ESCOMPTE CHQORA 5338664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2,113,500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1,963,500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1371600"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47,120,000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REMISE CHQ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 algn="r">
                        <a:defRPr sz="800">
                          <a:latin typeface="Calibri"/>
                        </a:defRPr>
                      </a:pPr>
                      <a:r>
                        <a:t>3,495,900</a:t>
                      </a: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tIns="12700" bIns="12700"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