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6609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BAMBOO IMMO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DCDCDC"/>
                </a:solidFill>
              </a:defRPr>
            </a:pPr>
            <a:r>
              <a:t>Document confidentiel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DCDCDC"/>
                </a:solidFill>
              </a:defRPr>
            </a:pPr>
            <a:r>
              <a:t>Soumis à l'attention du service comptable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Période: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C8C8C8"/>
                </a:solidFill>
              </a:defRPr>
            </a:pPr>
            <a:r>
              <a:t>Par 2BN CONSULTING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 rotWithShape="1">
            <a:gsLst>
              <a:gs pos="0">
                <a:srgbClr val="366092"/>
              </a:gs>
              <a:gs pos="100000">
                <a:srgbClr val="4678B4"/>
              </a:gs>
            </a:gsLst>
            <a:lin scaled="0" ang="16200000"/>
          </a:gradFill>
          <a:ln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tIns="137160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SOMMAIRE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/>
          <a:lstStyle/>
          <a:p>
            <a:pPr algn="ctr">
              <a:defRPr sz="1000">
                <a:solidFill>
                  <a:srgbClr val="646464"/>
                </a:solidFill>
                <a:latin typeface="Calibri"/>
              </a:defRPr>
            </a:pPr>
            <a:r>
              <a:t>                                                                                Page 2/16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777240"/>
            <a:ext cx="8229600" cy="0"/>
          </a:xfrm>
          <a:prstGeom prst="line">
            <a:avLst/>
          </a:prstGeom>
          <a:ln w="25400">
            <a:solidFill>
              <a:srgbClr val="3660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371600" y="1371600"/>
            <a:ext cx="6400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>
                <a:latin typeface="Calibri"/>
              </a:defRPr>
            </a:pPr>
            <a:r>
              <a:t>1- Objectif du rapport</a:t>
            </a:r>
          </a:p>
          <a:p>
            <a:pPr>
              <a:spcAft>
                <a:spcPts val="1400"/>
              </a:spcAft>
              <a:defRPr sz="2000">
                <a:latin typeface="Calibri"/>
              </a:defRPr>
            </a:pPr>
            <a:r>
              <a:t>2- Événements significatifs</a:t>
            </a:r>
          </a:p>
          <a:p>
            <a:pPr>
              <a:spcAft>
                <a:spcPts val="1400"/>
              </a:spcAft>
              <a:defRPr sz="2000">
                <a:latin typeface="Calibri"/>
              </a:defRPr>
            </a:pPr>
            <a:r>
              <a:t>3- Situation financière</a:t>
            </a:r>
          </a:p>
          <a:p>
            <a:pPr>
              <a:spcAft>
                <a:spcPts val="1400"/>
              </a:spcAft>
              <a:defRPr sz="2000">
                <a:latin typeface="Calibri"/>
              </a:defRPr>
            </a:pPr>
            <a:r>
              <a:t>4- Activité de la période</a:t>
            </a:r>
          </a:p>
          <a:p>
            <a:pPr>
              <a:spcAft>
                <a:spcPts val="1400"/>
              </a:spcAft>
              <a:defRPr sz="2000">
                <a:latin typeface="Calibri"/>
              </a:defRPr>
            </a:pPr>
            <a:r>
              <a:t>5- Soldes significatifs de gestion</a:t>
            </a:r>
          </a:p>
          <a:p>
            <a:pPr>
              <a:spcAft>
                <a:spcPts val="1400"/>
              </a:spcAft>
              <a:defRPr sz="2000">
                <a:latin typeface="Calibri"/>
              </a:defRPr>
            </a:pPr>
            <a:r>
              <a:t>6- Situation mensuelle</a:t>
            </a:r>
          </a:p>
          <a:p>
            <a:pPr>
              <a:spcAft>
                <a:spcPts val="1400"/>
              </a:spcAft>
              <a:defRPr sz="2000">
                <a:latin typeface="Calibri"/>
              </a:defRPr>
            </a:pPr>
            <a:r>
              <a:t>7- Décisions et recommandations</a:t>
            </a:r>
          </a:p>
          <a:p>
            <a:pPr>
              <a:spcAft>
                <a:spcPts val="1400"/>
              </a:spcAft>
              <a:defRPr sz="2000">
                <a:latin typeface="Calibri"/>
              </a:defRPr>
            </a:pPr>
            <a:r>
              <a:t>8- Annexes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 rotWithShape="1">
            <a:gsLst>
              <a:gs pos="0">
                <a:srgbClr val="366092"/>
              </a:gs>
              <a:gs pos="100000">
                <a:srgbClr val="4678B4"/>
              </a:gs>
            </a:gsLst>
            <a:lin scaled="0" ang="16200000"/>
          </a:gradFill>
          <a:ln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tIns="137160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1- Objectif du rapport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/>
          <a:lstStyle/>
          <a:p>
            <a:pPr algn="ctr">
              <a:defRPr sz="1000">
                <a:solidFill>
                  <a:srgbClr val="646464"/>
                </a:solidFill>
                <a:latin typeface="Calibri"/>
              </a:defRPr>
            </a:pPr>
            <a:r>
              <a:t>                                                                                Page 3/16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777240"/>
            <a:ext cx="8229600" cy="0"/>
          </a:xfrm>
          <a:prstGeom prst="line">
            <a:avLst/>
          </a:prstGeom>
          <a:ln w="25400">
            <a:solidFill>
              <a:srgbClr val="3660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t>Le présent rapport a pour but :</a:t>
            </a: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t>• D'apprécier la situation financière de BAMBOO IMMO ;</a:t>
            </a: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t>• De déterminer la profitabilité de BAMBOO IMMO sur cette période ;</a:t>
            </a: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t>• Servir d'outil d'aide à la décision au Senior management.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 rotWithShape="1">
            <a:gsLst>
              <a:gs pos="0">
                <a:srgbClr val="366092"/>
              </a:gs>
              <a:gs pos="100000">
                <a:srgbClr val="4678B4"/>
              </a:gs>
            </a:gsLst>
            <a:lin scaled="0" ang="16200000"/>
          </a:gradFill>
          <a:ln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tIns="137160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2- Événements significatifs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/>
          <a:lstStyle/>
          <a:p>
            <a:pPr algn="ctr">
              <a:defRPr sz="1000">
                <a:solidFill>
                  <a:srgbClr val="646464"/>
                </a:solidFill>
                <a:latin typeface="Calibri"/>
              </a:defRPr>
            </a:pPr>
            <a:r>
              <a:t>                                                                                Page 4/16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777240"/>
            <a:ext cx="8229600" cy="0"/>
          </a:xfrm>
          <a:prstGeom prst="line">
            <a:avLst/>
          </a:prstGeom>
          <a:ln w="25400">
            <a:solidFill>
              <a:srgbClr val="3660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14400" y="1371600"/>
            <a:ext cx="7315200" cy="4572000"/>
          </a:xfrm>
          <a:prstGeom prst="roundRect">
            <a:avLst/>
          </a:prstGeom>
          <a:solidFill>
            <a:srgbClr val="F0F8FF"/>
          </a:solidFill>
          <a:ln w="50800"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463040"/>
            <a:ext cx="365760" cy="365760"/>
          </a:xfrm>
          <a:prstGeom prst="ellipse">
            <a:avLst/>
          </a:prstGeom>
          <a:solidFill>
            <a:srgbClr val="36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/>
            </a:pPr>
            <a:r>
              <a:t>⚠️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554480"/>
            <a:ext cx="6583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323232"/>
                </a:solidFill>
                <a:latin typeface="Calibri"/>
              </a:defRPr>
            </a:pPr>
            <a:r>
              <a:t>Aucun événement significatif à signaler pour cette période.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 rotWithShape="1">
            <a:gsLst>
              <a:gs pos="0">
                <a:srgbClr val="366092"/>
              </a:gs>
              <a:gs pos="100000">
                <a:srgbClr val="4678B4"/>
              </a:gs>
            </a:gsLst>
            <a:lin scaled="0" ang="16200000"/>
          </a:gradFill>
          <a:ln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tIns="137160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3- Situation financière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/>
          <a:lstStyle/>
          <a:p>
            <a:pPr algn="ctr">
              <a:defRPr sz="1000">
                <a:solidFill>
                  <a:srgbClr val="646464"/>
                </a:solidFill>
                <a:latin typeface="Calibri"/>
              </a:defRPr>
            </a:pPr>
            <a:r>
              <a:t>                                                                                Page 5/16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777240"/>
            <a:ext cx="8229600" cy="0"/>
          </a:xfrm>
          <a:prstGeom prst="line">
            <a:avLst/>
          </a:prstGeom>
          <a:ln w="25400">
            <a:solidFill>
              <a:srgbClr val="3660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" y="1097280"/>
          <a:ext cx="8961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520"/>
                <a:gridCol w="1493520"/>
                <a:gridCol w="1493520"/>
                <a:gridCol w="1493520"/>
                <a:gridCol w="1493520"/>
                <a:gridCol w="1493520"/>
              </a:tblGrid>
              <a:tr h="176784"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ACTIF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PASSIF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IMMOBILISATIONS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IMMOBILISATIONS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IMMOBILISATIONS INCORPORELLES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99,960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CAPITAL SOCIAL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1,000,000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AMORTISSEMENT DES IMMOBILISATIONS INCORPORELLES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RAN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12,124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IMMOBILISATIONS CORPORELLES VALEURS BRUTES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16,950,911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RESULTAT 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1,141,932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AMORTISSEMENT DES IMMOBILISATIONS CORPORELLES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-1,926,789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IMMOBILISATIONS FINANCIERES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STOCKS ET CRÉANCES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STOCKS ET CRÉANCES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STOCK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DETTES FINANCIERES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DEPRECIATION DES STOCKS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FOURNISSEUR D'EXPLOITATION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600,000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FOURNISSEUR AVANCE VERSE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DETTES SOCIALES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FOURNISSEURS DEBITEURS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119,900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DETTES FISCALES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529,962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CREANCES CLIENTS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AUTRES DETTES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16,139,778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AUTRES CREANCES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CREDITEURS DIVERS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DEBITEURS DIVERS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150,000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FOURNISSEUR D'INVESTISSEMENT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TRÉSORERIE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TRÉSORERIE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BANQUES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3,614,136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DECOUVERTS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84,322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CHEQUE POSTAUX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MONNAIE ELECTRONIQUE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CAISSE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VIREMENT INTERNE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 b="1">
                          <a:latin typeface="Calibri"/>
                        </a:defRPr>
                      </a:pPr>
                      <a:r>
                        <a:t>TOTAL ACTIF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19,508,118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 b="1">
                          <a:latin typeface="Calibri"/>
                        </a:defRPr>
                      </a:pPr>
                      <a:r>
                        <a:t>TOTAL PASSIF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19,508,118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Bilan synthétique préparé pour présentation PowerP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Bilan équilibré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 rotWithShape="1">
            <a:gsLst>
              <a:gs pos="0">
                <a:srgbClr val="366092"/>
              </a:gs>
              <a:gs pos="100000">
                <a:srgbClr val="4678B4"/>
              </a:gs>
            </a:gsLst>
            <a:lin scaled="0" ang="16200000"/>
          </a:gradFill>
          <a:ln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tIns="137160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3- Situation financière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/>
          <a:lstStyle/>
          <a:p>
            <a:pPr algn="ctr">
              <a:defRPr sz="1000">
                <a:solidFill>
                  <a:srgbClr val="646464"/>
                </a:solidFill>
                <a:latin typeface="Calibri"/>
              </a:defRPr>
            </a:pPr>
            <a:r>
              <a:t>                                                                                Page 6/16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777240"/>
            <a:ext cx="8229600" cy="0"/>
          </a:xfrm>
          <a:prstGeom prst="line">
            <a:avLst/>
          </a:prstGeom>
          <a:ln w="25400">
            <a:solidFill>
              <a:srgbClr val="3660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14400" y="1371600"/>
            <a:ext cx="7315200" cy="4572000"/>
          </a:xfrm>
          <a:prstGeom prst="roundRect">
            <a:avLst/>
          </a:prstGeom>
          <a:solidFill>
            <a:srgbClr val="F0F8FF"/>
          </a:solidFill>
          <a:ln w="50800"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463040"/>
            <a:ext cx="365760" cy="365760"/>
          </a:xfrm>
          <a:prstGeom prst="ellipse">
            <a:avLst/>
          </a:prstGeom>
          <a:solidFill>
            <a:srgbClr val="36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/>
            </a:pPr>
            <a: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554480"/>
            <a:ext cx="6583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323232"/>
                </a:solidFill>
                <a:latin typeface="Calibri"/>
              </a:defRPr>
            </a:pPr>
            <a:r>
              <a:t>Analyse du bilan à compléter.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 rotWithShape="1">
            <a:gsLst>
              <a:gs pos="0">
                <a:srgbClr val="366092"/>
              </a:gs>
              <a:gs pos="100000">
                <a:srgbClr val="4678B4"/>
              </a:gs>
            </a:gsLst>
            <a:lin scaled="0" ang="16200000"/>
          </a:gradFill>
          <a:ln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tIns="137160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4- Activité de la période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/>
          <a:lstStyle/>
          <a:p>
            <a:pPr algn="ctr">
              <a:defRPr sz="1000">
                <a:solidFill>
                  <a:srgbClr val="646464"/>
                </a:solidFill>
                <a:latin typeface="Calibri"/>
              </a:defRPr>
            </a:pPr>
            <a:r>
              <a:t>                                                                                Page 7/16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777240"/>
            <a:ext cx="8229600" cy="0"/>
          </a:xfrm>
          <a:prstGeom prst="line">
            <a:avLst/>
          </a:prstGeom>
          <a:ln w="25400">
            <a:solidFill>
              <a:srgbClr val="3660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18872" y="1097280"/>
          <a:ext cx="891540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  <a:gridCol w="1485900"/>
                <a:gridCol w="1485900"/>
                <a:gridCol w="1485900"/>
                <a:gridCol w="1485900"/>
              </a:tblGrid>
              <a:tr h="124097"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CHARGES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MONTANTS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PRODUITS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MONTANTS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Achats de marchandises, de matières &amp; fournitures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Ventes de marchandises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Variation de stock de marchandises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Ventes de produits fabrique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Autres achats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94,872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Travaux, service vendus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Transports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Produit accessoirs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5,708,150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Services exterieurs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2,369,957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Subvention d'exploitation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Impots &amp; taxes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170,000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Produit immobilisé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Charges du personnel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Production stocké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Autres charges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4,600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Autres produits (Accessoires)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Dotations aux amortissements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1,926,789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Transfert de charges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Participations des travailleurs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Reprise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Reprise de charges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Subventions d'equilibre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Frais financiers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Valeur comptables des cessions d'immobilisations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Produit des cessions d'immobilisations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Charges hors activité ordinaires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Produit hors activité ordinaires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Dotations HAO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Charges d'exploitation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4,566,218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Produits d'exploitation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5,708,150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Resultat - Net Profit (+)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1,141,932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Resultat - Net Loss (-)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 b="1">
                          <a:latin typeface="Calibri"/>
                        </a:defRPr>
                      </a:pPr>
                      <a:r>
                        <a:t>TOTAL CHARGES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5,708,150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 b="1">
                          <a:latin typeface="Calibri"/>
                        </a:defRPr>
                      </a:pPr>
                      <a:r>
                        <a:t>TOTAL PRODUITS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5,708,150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📄 Généré par 2BN CONSULTING le 26/11/2025 à 11:23: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4103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 rotWithShape="1">
            <a:gsLst>
              <a:gs pos="0">
                <a:srgbClr val="366092"/>
              </a:gs>
              <a:gs pos="100000">
                <a:srgbClr val="4678B4"/>
              </a:gs>
            </a:gsLst>
            <a:lin scaled="0" ang="16200000"/>
          </a:gradFill>
          <a:ln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tIns="137160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4- Activité de la période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/>
          <a:lstStyle/>
          <a:p>
            <a:pPr algn="ctr">
              <a:defRPr sz="1000">
                <a:solidFill>
                  <a:srgbClr val="646464"/>
                </a:solidFill>
                <a:latin typeface="Calibri"/>
              </a:defRPr>
            </a:pPr>
            <a:r>
              <a:t>                                                                                Page 8/16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777240"/>
            <a:ext cx="8229600" cy="0"/>
          </a:xfrm>
          <a:prstGeom prst="line">
            <a:avLst/>
          </a:prstGeom>
          <a:ln w="25400">
            <a:solidFill>
              <a:srgbClr val="3660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14400" y="1371600"/>
            <a:ext cx="7315200" cy="4572000"/>
          </a:xfrm>
          <a:prstGeom prst="roundRect">
            <a:avLst/>
          </a:prstGeom>
          <a:solidFill>
            <a:srgbClr val="F0F8FF"/>
          </a:solidFill>
          <a:ln w="50800"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463040"/>
            <a:ext cx="365760" cy="365760"/>
          </a:xfrm>
          <a:prstGeom prst="ellipse">
            <a:avLst/>
          </a:prstGeom>
          <a:solidFill>
            <a:srgbClr val="36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/>
            </a:pPr>
            <a: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554480"/>
            <a:ext cx="6583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323232"/>
                </a:solidFill>
                <a:latin typeface="Calibri"/>
              </a:defRPr>
            </a:pPr>
            <a:r>
              <a:t>Analyse du compte de résultat à compléter.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 rotWithShape="1">
            <a:gsLst>
              <a:gs pos="0">
                <a:srgbClr val="366092"/>
              </a:gs>
              <a:gs pos="100000">
                <a:srgbClr val="4678B4"/>
              </a:gs>
            </a:gsLst>
            <a:lin scaled="0" ang="16200000"/>
          </a:gradFill>
          <a:ln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tIns="137160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5- Soldes intermédiaires de gestion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/>
          <a:lstStyle/>
          <a:p>
            <a:pPr algn="ctr">
              <a:defRPr sz="1000">
                <a:solidFill>
                  <a:srgbClr val="646464"/>
                </a:solidFill>
                <a:latin typeface="Calibri"/>
              </a:defRPr>
            </a:pPr>
            <a:r>
              <a:t>                                                                                Page 9/16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777240"/>
            <a:ext cx="8229600" cy="0"/>
          </a:xfrm>
          <a:prstGeom prst="line">
            <a:avLst/>
          </a:prstGeom>
          <a:ln w="25400">
            <a:solidFill>
              <a:srgbClr val="3660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46304" y="1005840"/>
          <a:ext cx="886968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8280"/>
                <a:gridCol w="1478280"/>
                <a:gridCol w="1478280"/>
                <a:gridCol w="1478280"/>
                <a:gridCol w="1478280"/>
                <a:gridCol w="1478280"/>
              </a:tblGrid>
              <a:tr h="122612"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Soldes intermédiaires de gestion (SIG)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#NAME?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LIBELLES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EXERCICE AU 30/09/2025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EXERCICE 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TA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Ventes de marchandises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Achats de marchandises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RB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Variation de stocks de marchandises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-/+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XA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MARGE COMMERCIALE  (somme TA à RB)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TB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Ventes de produits fabriqués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TC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Travaux, services vendus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TD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Commissions &amp; courtages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D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5,708,150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XB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CHIFFRE D'AFFAIRES (A+B+C+D)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5,708,150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TE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Production stockée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-/+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TG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Subventions d'exploitation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TH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Autres produits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Achats de matieres premières et fournitures liées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RD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Variation de stock de matières premieres &amp; fournit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-/+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Autres achats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RF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Variation de stocks d'autres approvisionements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-/+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Transports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RH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Services exterieurs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-2,369,957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Impots et taxes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-170,000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RJ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Autres charges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-4,600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XC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VALEUR AJOUTÉE (XB+RA+RB) +(somme TE à RI)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3,338,193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RK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Charges du personnel 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XD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EXCÉDENT BRUT D'EXPLOITATION (XC+RK)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3,168,193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TJ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Reprises d'amortissments, de provisions et dépréci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Dotations aux amortissements, aux provisions et dé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-1,926,789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XE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RÉSULTAT D'EXPLOITATION (XD+TJ+RL)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1,241,404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TK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Revenus financiers et assimilés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TL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Reprises de provisions et dépréciations financiere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Transferts de charges financieres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RM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Frais finaciers et charges Assimilés 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Dotations aux provisions et aux dépréciations fina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XF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RÉSULTAT FINANCIER ( somme TK à RN)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XG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RESULTAT DES ACTIVITES ORDINAIRES (XE+XF)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1,241,404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TN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Produits des cessions d'immobilisations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Autres produits HAO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RO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Valeurs comptables des cessions d'immobilisations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Autres charges HAO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XH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RESULTAT HORS  ACTIVITES ORDINAIRES (somme TN à RP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Participation des travailleurs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Impots sur le résultat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4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XI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RÉSULTAT NET DE L'EXERCICE (XG+XH+RQ+RS)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1,141,932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 rotWithShape="1">
            <a:gsLst>
              <a:gs pos="0">
                <a:srgbClr val="366092"/>
              </a:gs>
              <a:gs pos="100000">
                <a:srgbClr val="4678B4"/>
              </a:gs>
            </a:gsLst>
            <a:lin scaled="0" ang="16200000"/>
          </a:gradFill>
          <a:ln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tIns="137160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5- Soldes intermédiaires de gestion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/>
          <a:lstStyle/>
          <a:p>
            <a:pPr algn="ctr">
              <a:defRPr sz="1000">
                <a:solidFill>
                  <a:srgbClr val="646464"/>
                </a:solidFill>
                <a:latin typeface="Calibri"/>
              </a:defRPr>
            </a:pPr>
            <a:r>
              <a:t>                                                                                Page 10/16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777240"/>
            <a:ext cx="8229600" cy="0"/>
          </a:xfrm>
          <a:prstGeom prst="line">
            <a:avLst/>
          </a:prstGeom>
          <a:ln w="25400">
            <a:solidFill>
              <a:srgbClr val="3660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14400" y="1371600"/>
            <a:ext cx="7315200" cy="4572000"/>
          </a:xfrm>
          <a:prstGeom prst="roundRect">
            <a:avLst/>
          </a:prstGeom>
          <a:solidFill>
            <a:srgbClr val="F0F8FF"/>
          </a:solidFill>
          <a:ln w="50800"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463040"/>
            <a:ext cx="365760" cy="365760"/>
          </a:xfrm>
          <a:prstGeom prst="ellipse">
            <a:avLst/>
          </a:prstGeom>
          <a:solidFill>
            <a:srgbClr val="36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/>
            </a:pPr>
            <a: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554480"/>
            <a:ext cx="6583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323232"/>
                </a:solidFill>
                <a:latin typeface="Calibri"/>
              </a:defRPr>
            </a:pPr>
            <a:r>
              <a:t>Analyse des SIG à compléter.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 rotWithShape="1">
            <a:gsLst>
              <a:gs pos="0">
                <a:srgbClr val="366092"/>
              </a:gs>
              <a:gs pos="100000">
                <a:srgbClr val="4678B4"/>
              </a:gs>
            </a:gsLst>
            <a:lin scaled="0" ang="16200000"/>
          </a:gradFill>
          <a:ln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tIns="137160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6- Situation mensuelle BAMBOO IMMO 2025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/>
          <a:lstStyle/>
          <a:p>
            <a:pPr algn="ctr">
              <a:defRPr sz="1000">
                <a:solidFill>
                  <a:srgbClr val="646464"/>
                </a:solidFill>
                <a:latin typeface="Calibri"/>
              </a:defRPr>
            </a:pPr>
            <a:r>
              <a:t>                                                                                Page 11/16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777240"/>
            <a:ext cx="8229600" cy="0"/>
          </a:xfrm>
          <a:prstGeom prst="line">
            <a:avLst/>
          </a:prstGeom>
          <a:ln w="25400">
            <a:solidFill>
              <a:srgbClr val="3660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" y="1005840"/>
          <a:ext cx="905256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6350"/>
                <a:gridCol w="696350"/>
                <a:gridCol w="696350"/>
                <a:gridCol w="696350"/>
                <a:gridCol w="696350"/>
                <a:gridCol w="696350"/>
                <a:gridCol w="696350"/>
                <a:gridCol w="696350"/>
                <a:gridCol w="696350"/>
                <a:gridCol w="696350"/>
                <a:gridCol w="696350"/>
                <a:gridCol w="696350"/>
                <a:gridCol w="696360"/>
              </a:tblGrid>
              <a:tr h="81741"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Rappel année N-1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BUDGET PREVI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Janvier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Février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Mars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Avril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Mai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Juin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Juillet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Août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Septembre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Appoitements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Indemnité de transport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Indemnité de logement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Indemnité de responsabilité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Indemnité de représentation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Indemnité véhicule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Indemnité de blanchissage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Primes fonction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Primes panier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Primes vestimentaire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Primes d'ancienneté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Prime d'assiduité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Congés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Cotisations patronales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Appoint du mois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Pharmacie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Assurance maladie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 b="1">
                          <a:latin typeface="Calibri"/>
                        </a:defRPr>
                      </a:pPr>
                      <a:r>
                        <a:t>Total charges de personnel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Matières consommables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IMPRESSION CARNET 50 FEUILLE+SOUCHES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-47,200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 b="1">
                          <a:latin typeface="Calibri"/>
                        </a:defRPr>
                      </a:pPr>
                      <a:r>
                        <a:t>Total Fournitures de bureau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-47,200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Eau/Électricité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Carburant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Transports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Télécommunication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Entretien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Formation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Restauration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Location matériel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Loyer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Assurance risque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Publicité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INTERCO/PATENTE DU 24/02/2025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-170,000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 b="1">
                          <a:latin typeface="Calibri"/>
                        </a:defRPr>
                      </a:pPr>
                      <a:r>
                        <a:t>Total Impôts &amp; Taxes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-170,000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FACTURE 2BNC NøFA2BNC052 DE JANVIER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-220,994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-220,994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-220,994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-220,994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-220,994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-220,994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-220,994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-220,994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-220,994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 b="1">
                          <a:latin typeface="Calibri"/>
                        </a:defRPr>
                      </a:pPr>
                      <a:r>
                        <a:t>Total Intermédiaire &amp; conseils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-220,994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-220,994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-220,994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-220,994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-220,994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-220,994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-220,994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-220,994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-220,994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FRAIS BANCAIRE D'OCTOBRE A DECEMBRE 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-57,986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-24,521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-34,631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 b="1">
                          <a:latin typeface="Calibri"/>
                        </a:defRPr>
                      </a:pPr>
                      <a:r>
                        <a:t>Total Frais bancaires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-57,986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-24,521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-34,631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-213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-214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-223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-223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-217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Redevances logiciels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Réception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Intérêts emprunt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AMORTISSEMENT DU MATERIEL DE TRANSPORT/DE MARS A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-1,445,091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-240,849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 b="1">
                          <a:latin typeface="Calibri"/>
                        </a:defRPr>
                      </a:pPr>
                      <a:r>
                        <a:t>Total Amortissement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-1,445,091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-240,849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Frais de mission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INTERCO/IMPRESSION T SHIRT 1ER MAI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-4,600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 b="1">
                          <a:latin typeface="Calibri"/>
                        </a:defRPr>
                      </a:pPr>
                      <a:r>
                        <a:t>Total Pénalités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-4,600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INTERCO/IMPRESSION T SHIRT 1ER MAI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-4,600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 b="1">
                          <a:latin typeface="Calibri"/>
                        </a:defRPr>
                      </a:pPr>
                      <a:r>
                        <a:t>Total Autres charges divers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-4,600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Autres charges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 b="1">
                          <a:latin typeface="Calibri"/>
                        </a:defRPr>
                      </a:pPr>
                      <a:r>
                        <a:t>Total charges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COM/LOYER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481,850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476,250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833,700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594,200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555,000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622,200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604,350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524,850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492,950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 b="1">
                          <a:latin typeface="Calibri"/>
                        </a:defRPr>
                      </a:pPr>
                      <a:r>
                        <a:t>Total Chiffre d'affaires commissions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481,850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476,250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833,700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594,200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555,000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622,200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604,350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524,850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492,950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Chiffre d'affaires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Autres produits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95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 rotWithShape="1">
            <a:gsLst>
              <a:gs pos="0">
                <a:srgbClr val="366092"/>
              </a:gs>
              <a:gs pos="100000">
                <a:srgbClr val="4678B4"/>
              </a:gs>
            </a:gsLst>
            <a:lin scaled="0" ang="16200000"/>
          </a:gradFill>
          <a:ln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tIns="137160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7- Décisions et Recommandations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/>
          <a:lstStyle/>
          <a:p>
            <a:pPr algn="ctr">
              <a:defRPr sz="1000">
                <a:solidFill>
                  <a:srgbClr val="646464"/>
                </a:solidFill>
                <a:latin typeface="Calibri"/>
              </a:defRPr>
            </a:pPr>
            <a:r>
              <a:t>                                                                                Page 12/16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777240"/>
            <a:ext cx="8229600" cy="0"/>
          </a:xfrm>
          <a:prstGeom prst="line">
            <a:avLst/>
          </a:prstGeom>
          <a:ln w="25400">
            <a:solidFill>
              <a:srgbClr val="3660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14400" y="1371600"/>
            <a:ext cx="7315200" cy="4572000"/>
          </a:xfrm>
          <a:prstGeom prst="roundRect">
            <a:avLst/>
          </a:prstGeom>
          <a:solidFill>
            <a:srgbClr val="F0F8FF"/>
          </a:solidFill>
          <a:ln w="50800"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463040"/>
            <a:ext cx="365760" cy="365760"/>
          </a:xfrm>
          <a:prstGeom prst="ellipse">
            <a:avLst/>
          </a:prstGeom>
          <a:solidFill>
            <a:srgbClr val="36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/>
            </a:pPr>
            <a:r>
              <a:t>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554480"/>
            <a:ext cx="6583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323232"/>
                </a:solidFill>
                <a:latin typeface="Calibri"/>
              </a:defRPr>
            </a:pPr>
            <a:r>
              <a:t>Synthèse et recommandations à compléter.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 rotWithShape="1">
            <a:gsLst>
              <a:gs pos="0">
                <a:srgbClr val="366092"/>
              </a:gs>
              <a:gs pos="100000">
                <a:srgbClr val="4678B4"/>
              </a:gs>
            </a:gsLst>
            <a:lin scaled="0" ang="16200000"/>
          </a:gradFill>
          <a:ln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tIns="137160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Annexe 1 : Décaissements à justifier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/>
          <a:lstStyle/>
          <a:p>
            <a:pPr algn="ctr">
              <a:defRPr sz="1000">
                <a:solidFill>
                  <a:srgbClr val="646464"/>
                </a:solidFill>
                <a:latin typeface="Calibri"/>
              </a:defRPr>
            </a:pPr>
            <a:r>
              <a:t>                                                                                Page 13/16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777240"/>
            <a:ext cx="8229600" cy="0"/>
          </a:xfrm>
          <a:prstGeom prst="line">
            <a:avLst/>
          </a:prstGeom>
          <a:ln w="25400">
            <a:solidFill>
              <a:srgbClr val="3660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92024" y="1371600"/>
          <a:ext cx="880567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7612"/>
                <a:gridCol w="1467612"/>
                <a:gridCol w="1467612"/>
                <a:gridCol w="1467612"/>
                <a:gridCol w="1467612"/>
                <a:gridCol w="1467612"/>
              </a:tblGrid>
              <a:tr h="1371600"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N° Cpte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Libellé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Débit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Crédit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S. Déb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S. Créd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</a:tr>
              <a:tr h="1371600"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47,110,000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ESCOMPTE CHQORA 5338664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2,113,500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1,963,500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/>
                </a:tc>
              </a:tr>
              <a:tr h="1371600"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47,120,000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REMISE CHQ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3,495,900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3,495,900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 rotWithShape="1">
            <a:gsLst>
              <a:gs pos="0">
                <a:srgbClr val="366092"/>
              </a:gs>
              <a:gs pos="100000">
                <a:srgbClr val="4678B4"/>
              </a:gs>
            </a:gsLst>
            <a:lin scaled="0" ang="16200000"/>
          </a:gradFill>
          <a:ln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tIns="137160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Annexe 2 : Dettes Fournisseurs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/>
          <a:lstStyle/>
          <a:p>
            <a:pPr algn="ctr">
              <a:defRPr sz="1000">
                <a:solidFill>
                  <a:srgbClr val="646464"/>
                </a:solidFill>
                <a:latin typeface="Calibri"/>
              </a:defRPr>
            </a:pPr>
            <a:r>
              <a:t>                                                                                Page 14/16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777240"/>
            <a:ext cx="8229600" cy="0"/>
          </a:xfrm>
          <a:prstGeom prst="line">
            <a:avLst/>
          </a:prstGeom>
          <a:ln w="25400">
            <a:solidFill>
              <a:srgbClr val="3660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4592" y="1371600"/>
          <a:ext cx="8814816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9136"/>
                <a:gridCol w="1469136"/>
                <a:gridCol w="1469136"/>
                <a:gridCol w="1469136"/>
                <a:gridCol w="1469136"/>
                <a:gridCol w="1469136"/>
              </a:tblGrid>
              <a:tr h="2286000"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N° Cpte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Libellé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Débit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Crédit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S. Déb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S. Créd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</a:tr>
              <a:tr h="2286000"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40,110,000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FACTURE 2BNC NøFA2BNC052 DE JA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1,485,904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2,085,904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 rotWithShape="1">
            <a:gsLst>
              <a:gs pos="0">
                <a:srgbClr val="366092"/>
              </a:gs>
              <a:gs pos="100000">
                <a:srgbClr val="4678B4"/>
              </a:gs>
            </a:gsLst>
            <a:lin scaled="0" ang="16200000"/>
          </a:gradFill>
          <a:ln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tIns="137160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Annexe 3 : Autres dettes, Préfinancement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/>
          <a:lstStyle/>
          <a:p>
            <a:pPr algn="ctr">
              <a:defRPr sz="1000">
                <a:solidFill>
                  <a:srgbClr val="646464"/>
                </a:solidFill>
                <a:latin typeface="Calibri"/>
              </a:defRPr>
            </a:pPr>
            <a:r>
              <a:t>                                                                                Page 15/16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777240"/>
            <a:ext cx="8229600" cy="0"/>
          </a:xfrm>
          <a:prstGeom prst="line">
            <a:avLst/>
          </a:prstGeom>
          <a:ln w="25400">
            <a:solidFill>
              <a:srgbClr val="3660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94944" y="1371600"/>
          <a:ext cx="7818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020"/>
                <a:gridCol w="1303020"/>
                <a:gridCol w="1303020"/>
                <a:gridCol w="1303020"/>
                <a:gridCol w="1303020"/>
                <a:gridCol w="1303020"/>
              </a:tblGrid>
              <a:tr h="1524000"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N° Cpte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Libellé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Débit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Crédit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S. Déb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S. Créd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</a:tr>
              <a:tr h="1524000"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44,110,000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IMPOTS SUR LES SOCIETES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500,000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/>
                </a:tc>
              </a:tr>
              <a:tr h="1524000"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44,781,000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TPS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272,922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302,884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 rotWithShape="1">
            <a:gsLst>
              <a:gs pos="0">
                <a:srgbClr val="366092"/>
              </a:gs>
              <a:gs pos="100000">
                <a:srgbClr val="4678B4"/>
              </a:gs>
            </a:gsLst>
            <a:lin scaled="0" ang="16200000"/>
          </a:gradFill>
          <a:ln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tIns="137160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Annexe 4 : Créditeurs divers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/>
          <a:lstStyle/>
          <a:p>
            <a:pPr algn="ctr">
              <a:defRPr sz="1000">
                <a:solidFill>
                  <a:srgbClr val="646464"/>
                </a:solidFill>
                <a:latin typeface="Calibri"/>
              </a:defRPr>
            </a:pPr>
            <a:r>
              <a:t>                                                                                Page 16/16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777240"/>
            <a:ext cx="8229600" cy="0"/>
          </a:xfrm>
          <a:prstGeom prst="line">
            <a:avLst/>
          </a:prstGeom>
          <a:ln w="25400">
            <a:solidFill>
              <a:srgbClr val="3660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73736" y="1371600"/>
          <a:ext cx="880567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7612"/>
                <a:gridCol w="1467612"/>
                <a:gridCol w="1467612"/>
                <a:gridCol w="1467612"/>
                <a:gridCol w="1467612"/>
                <a:gridCol w="1467612"/>
              </a:tblGrid>
              <a:tr h="1371600"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N° Cpte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Libellé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Débit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Crédit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S. Déb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S. Créd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</a:tr>
              <a:tr h="1371600"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47,110,000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ESCOMPTE CHQORA 5338664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2,113,500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1,963,500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/>
                </a:tc>
              </a:tr>
              <a:tr h="1371600"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47,120,000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REMISE CHQ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3,495,900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3,495,900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